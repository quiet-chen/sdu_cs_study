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60"/>
  </p:normalViewPr>
  <p:slideViewPr>
    <p:cSldViewPr snapToGrid="0">
      <p:cViewPr varScale="1">
        <p:scale>
          <a:sx n="83" d="100"/>
          <a:sy n="83" d="100"/>
        </p:scale>
        <p:origin x="6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5848E2-5056-734F-F5E9-39F361CD40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8F2ADE1-DA88-F6BD-F83E-EF1DFB842B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B12025-FE9E-70BD-1C33-1E91BAF66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44A4-9400-4D69-8FB5-F936B44B4765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781924-E04F-20FB-BA74-4E36EE1E3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273AC4-332F-ADB6-6783-4C1F50507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586AE-A9E3-4269-BE3D-66B43A90B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4921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D12954-102F-0299-9FB3-45FFFD843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987987-0810-0BEC-C7ED-2ED56EADA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F7E3DB-617A-F6D0-8513-14331B902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44A4-9400-4D69-8FB5-F936B44B4765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C57F1D-DD1F-90B3-4F55-64E5B40D2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C9845C-1DF7-2E2C-8D54-2CC818ABB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586AE-A9E3-4269-BE3D-66B43A90B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84765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832032-3BB5-92A0-8D96-81B79B095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6F1BC1-E52A-4ED2-D0DA-A5A6FF7A8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17D76B-D531-FDBB-2865-1BBB71D1B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44A4-9400-4D69-8FB5-F936B44B4765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771229-A875-2766-7A4A-5AF9673D6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10B5D6-45E3-F693-55F1-2E777C678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586AE-A9E3-4269-BE3D-66B43A90B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36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714291-6290-BA90-4A56-A9BC8E4E3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B18D86-754C-62AE-C458-8ED61F6253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24AE38-14D8-DBF1-86E5-D069F655B3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9E9550-69AA-EC96-00EB-EDD3E4CB3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44A4-9400-4D69-8FB5-F936B44B4765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E9F1788-A9C0-DECF-AF0E-529F5D422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6EB5DF-00BC-B2C5-D44B-626B6FCC6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586AE-A9E3-4269-BE3D-66B43A90B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7505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1016FD-B71C-D2EF-49CC-689FFADED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83A4A1-D76B-EC70-A3C1-FB2999E1AD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285884-9A24-05D6-2565-1C484303C3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F4DA7FA-F779-3A17-2C23-0183608FEF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C5F97C8-61A1-EEFB-9816-616A56495D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46111A7-5FBA-9889-437E-CCEE7B606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44A4-9400-4D69-8FB5-F936B44B4765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86A6709-14A2-5F21-2029-245344AC2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4423221-7737-2BC2-7E23-F80F9B4FE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586AE-A9E3-4269-BE3D-66B43A90B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1142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2BD5CA-B633-0693-B86E-B5B8167E1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25E27A2-5D9F-6798-DBF2-FCB968F7C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44A4-9400-4D69-8FB5-F936B44B4765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24955E5-2390-FE50-0DC8-B5C0A6515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7EED0AC-F8C7-D59A-9A39-2590B06A7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586AE-A9E3-4269-BE3D-66B43A90B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0792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53F61CD-4EC0-090D-9376-6C6542983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44A4-9400-4D69-8FB5-F936B44B4765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2FD8807-0E38-F717-C22D-0BEDE571A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808BA7-B6A7-0763-CB26-1812870D5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586AE-A9E3-4269-BE3D-66B43A90B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6639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16825A-DF32-000E-16B7-296B29F0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D7607C-DD2F-5BFC-E692-6A3B8D880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8963FC-41DE-CA67-38A4-EB24A5E7EB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9AFDF5-17CB-B039-0671-525CB219A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44A4-9400-4D69-8FB5-F936B44B4765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35EEC13-6E0C-13BA-69E1-EAA0B4106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12A1F76-2594-9CCE-D901-93F3B35E0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586AE-A9E3-4269-BE3D-66B43A90B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2708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A58B00-DE5F-6593-9722-55BBC2109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8717461-A1D9-CA4F-2701-5C19430388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1094DF9-D35D-C8E1-2A0C-73A2B5658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1B77D9-411C-EE34-A66C-DBA1C9A6C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44A4-9400-4D69-8FB5-F936B44B4765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526347-DE6A-4931-EFEA-21D2EFCAA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0DF99F-450E-B40C-5AD6-BA542AFFD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586AE-A9E3-4269-BE3D-66B43A90B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8474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8F9963-02E8-65E8-69DE-D6B76DF44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D0E6644-D0FA-1634-5812-2EF60C1D5D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02932A-7977-9457-F207-EFE91EC8E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44A4-9400-4D69-8FB5-F936B44B4765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0E9212-DCB9-7999-AB29-E2CC1A4F9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54C3BC-86F7-53A4-2DC1-799181482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586AE-A9E3-4269-BE3D-66B43A90B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1303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6FFDC38-F242-731F-3099-FC4EA1F50A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66F26AD-78D8-AA36-70F0-E3BDE7E756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197B8C-0392-2EAC-E443-662096714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44A4-9400-4D69-8FB5-F936B44B4765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400C03-2534-F24C-53A2-645983825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7073ED-4AB7-C7A1-F846-6C6B85A3D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586AE-A9E3-4269-BE3D-66B43A90B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1358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770CE51-0A3B-BA7B-C356-BEFF0430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EF765A1-52EA-C6F4-A9EE-F9964F4245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14677F-91FB-D698-BB56-19D42BF7AD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2144A4-9400-4D69-8FB5-F936B44B4765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7E7EB3-9E48-FD15-5043-CF8F460C2C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D2DF7C-5C1C-B366-E28E-B7081A83D4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4586AE-A9E3-4269-BE3D-66B43A90B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566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94C9271-8E4F-0D27-7A8F-95B7155DB4C3}"/>
              </a:ext>
            </a:extLst>
          </p:cNvPr>
          <p:cNvSpPr/>
          <p:nvPr/>
        </p:nvSpPr>
        <p:spPr>
          <a:xfrm>
            <a:off x="4244109" y="240146"/>
            <a:ext cx="3703782" cy="621607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9E0A3F65-C8DF-5002-6D0E-EBCDF7EBBEFB}"/>
              </a:ext>
            </a:extLst>
          </p:cNvPr>
          <p:cNvCxnSpPr/>
          <p:nvPr/>
        </p:nvCxnSpPr>
        <p:spPr>
          <a:xfrm>
            <a:off x="4244109" y="729673"/>
            <a:ext cx="37037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4E15B0C-F646-8929-8224-244DA12A0BA5}"/>
              </a:ext>
            </a:extLst>
          </p:cNvPr>
          <p:cNvCxnSpPr/>
          <p:nvPr/>
        </p:nvCxnSpPr>
        <p:spPr>
          <a:xfrm>
            <a:off x="4244109" y="1209964"/>
            <a:ext cx="37037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7963CFEE-2A86-615D-040D-CF1B79D46BCA}"/>
              </a:ext>
            </a:extLst>
          </p:cNvPr>
          <p:cNvCxnSpPr>
            <a:stCxn id="4" idx="1"/>
            <a:endCxn id="4" idx="3"/>
          </p:cNvCxnSpPr>
          <p:nvPr/>
        </p:nvCxnSpPr>
        <p:spPr>
          <a:xfrm>
            <a:off x="4244109" y="3348183"/>
            <a:ext cx="37037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D5CB914B-A3E8-4DD2-3619-366226D98457}"/>
              </a:ext>
            </a:extLst>
          </p:cNvPr>
          <p:cNvCxnSpPr/>
          <p:nvPr/>
        </p:nvCxnSpPr>
        <p:spPr>
          <a:xfrm>
            <a:off x="4244109" y="5874327"/>
            <a:ext cx="37037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E04F8D80-B806-9904-B75C-8574F74669A5}"/>
              </a:ext>
            </a:extLst>
          </p:cNvPr>
          <p:cNvSpPr/>
          <p:nvPr/>
        </p:nvSpPr>
        <p:spPr>
          <a:xfrm>
            <a:off x="4368800" y="1330036"/>
            <a:ext cx="3491345" cy="18749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1002BAF-3DA7-E2A0-EF38-91324332B075}"/>
              </a:ext>
            </a:extLst>
          </p:cNvPr>
          <p:cNvSpPr/>
          <p:nvPr/>
        </p:nvSpPr>
        <p:spPr>
          <a:xfrm>
            <a:off x="4368800" y="5994400"/>
            <a:ext cx="406400" cy="3786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71A0103-23F3-7F47-115B-D1AD64379309}"/>
              </a:ext>
            </a:extLst>
          </p:cNvPr>
          <p:cNvSpPr/>
          <p:nvPr/>
        </p:nvSpPr>
        <p:spPr>
          <a:xfrm>
            <a:off x="5128496" y="5994399"/>
            <a:ext cx="406400" cy="3786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9ABCEC4-0B6C-2DA0-FB2E-CF1CBFCEE042}"/>
              </a:ext>
            </a:extLst>
          </p:cNvPr>
          <p:cNvSpPr/>
          <p:nvPr/>
        </p:nvSpPr>
        <p:spPr>
          <a:xfrm>
            <a:off x="6668658" y="5994399"/>
            <a:ext cx="406400" cy="3786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D214DB2-30B1-6009-7119-C7F6DD9F0553}"/>
              </a:ext>
            </a:extLst>
          </p:cNvPr>
          <p:cNvSpPr/>
          <p:nvPr/>
        </p:nvSpPr>
        <p:spPr>
          <a:xfrm>
            <a:off x="7340601" y="5994399"/>
            <a:ext cx="406400" cy="3786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7A68379-9055-D400-DF42-8A45EE5644CA}"/>
              </a:ext>
            </a:extLst>
          </p:cNvPr>
          <p:cNvSpPr/>
          <p:nvPr/>
        </p:nvSpPr>
        <p:spPr>
          <a:xfrm>
            <a:off x="5888186" y="5994399"/>
            <a:ext cx="406400" cy="3786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8368266B-CC37-BB45-B2C2-17B40AA30256}"/>
              </a:ext>
            </a:extLst>
          </p:cNvPr>
          <p:cNvSpPr/>
          <p:nvPr/>
        </p:nvSpPr>
        <p:spPr>
          <a:xfrm>
            <a:off x="7340601" y="277096"/>
            <a:ext cx="406400" cy="41563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015280F-34A3-F79C-6E4A-127C1010FD7F}"/>
              </a:ext>
            </a:extLst>
          </p:cNvPr>
          <p:cNvSpPr txBox="1"/>
          <p:nvPr/>
        </p:nvSpPr>
        <p:spPr>
          <a:xfrm>
            <a:off x="4324932" y="300244"/>
            <a:ext cx="1563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毕设管理系统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4630DCC-A709-428F-4EA7-B9341DDF762D}"/>
              </a:ext>
            </a:extLst>
          </p:cNvPr>
          <p:cNvSpPr txBox="1"/>
          <p:nvPr/>
        </p:nvSpPr>
        <p:spPr>
          <a:xfrm>
            <a:off x="4244109" y="5994399"/>
            <a:ext cx="3810000" cy="378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主页     选题     指导     计划    资源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13311BF-9ABA-23C7-7E19-6F6DB1C0ACDB}"/>
              </a:ext>
            </a:extLst>
          </p:cNvPr>
          <p:cNvSpPr txBox="1"/>
          <p:nvPr/>
        </p:nvSpPr>
        <p:spPr>
          <a:xfrm>
            <a:off x="8407399" y="5994399"/>
            <a:ext cx="2096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快速入口图标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E9AE1BA3-CE98-5F49-4375-B13454969FB5}"/>
              </a:ext>
            </a:extLst>
          </p:cNvPr>
          <p:cNvCxnSpPr>
            <a:cxnSpLocks/>
          </p:cNvCxnSpPr>
          <p:nvPr/>
        </p:nvCxnSpPr>
        <p:spPr>
          <a:xfrm flipH="1">
            <a:off x="8001000" y="6174388"/>
            <a:ext cx="459508" cy="46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E9D1A4F4-CF66-8104-931A-596961F7F9C8}"/>
              </a:ext>
            </a:extLst>
          </p:cNvPr>
          <p:cNvSpPr txBox="1"/>
          <p:nvPr/>
        </p:nvSpPr>
        <p:spPr>
          <a:xfrm>
            <a:off x="4345709" y="3468255"/>
            <a:ext cx="3295074" cy="1712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待办事项：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开题报告提交    </a:t>
            </a:r>
            <a:r>
              <a:rPr lang="en-US" altLang="zh-CN" dirty="0"/>
              <a:t>xx</a:t>
            </a:r>
            <a:r>
              <a:rPr lang="zh-CN" altLang="en-US" dirty="0"/>
              <a:t>月</a:t>
            </a:r>
            <a:r>
              <a:rPr lang="en-US" altLang="zh-CN" dirty="0"/>
              <a:t>xx</a:t>
            </a:r>
            <a:r>
              <a:rPr lang="zh-CN" altLang="en-US" dirty="0"/>
              <a:t>日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中期汇报            </a:t>
            </a:r>
            <a:r>
              <a:rPr lang="en-US" altLang="zh-CN" dirty="0"/>
              <a:t>xx</a:t>
            </a:r>
            <a:r>
              <a:rPr lang="zh-CN" altLang="en-US" dirty="0"/>
              <a:t>月</a:t>
            </a:r>
            <a:r>
              <a:rPr lang="en-US" altLang="zh-CN" dirty="0"/>
              <a:t>xx</a:t>
            </a:r>
            <a:r>
              <a:rPr lang="zh-CN" altLang="en-US" dirty="0"/>
              <a:t>日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论文初稿            </a:t>
            </a:r>
            <a:r>
              <a:rPr lang="en-US" altLang="zh-CN" dirty="0"/>
              <a:t>xx</a:t>
            </a:r>
            <a:r>
              <a:rPr lang="zh-CN" altLang="en-US" dirty="0"/>
              <a:t>月</a:t>
            </a:r>
            <a:r>
              <a:rPr lang="en-US" altLang="zh-CN" dirty="0"/>
              <a:t>xx</a:t>
            </a:r>
            <a:r>
              <a:rPr lang="zh-CN" altLang="en-US" dirty="0"/>
              <a:t>日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CEB1217-19C7-7AAB-0FED-4555497EA4B7}"/>
              </a:ext>
            </a:extLst>
          </p:cNvPr>
          <p:cNvSpPr txBox="1"/>
          <p:nvPr/>
        </p:nvSpPr>
        <p:spPr>
          <a:xfrm>
            <a:off x="8659091" y="3962339"/>
            <a:ext cx="1671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任务列表</a:t>
            </a: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C40E45FE-A03F-1F45-91CF-16AF2D810E1D}"/>
              </a:ext>
            </a:extLst>
          </p:cNvPr>
          <p:cNvCxnSpPr>
            <a:stCxn id="26" idx="1"/>
          </p:cNvCxnSpPr>
          <p:nvPr/>
        </p:nvCxnSpPr>
        <p:spPr>
          <a:xfrm flipH="1">
            <a:off x="8001000" y="4147005"/>
            <a:ext cx="658091" cy="1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E0B86A0F-0EBF-792B-8408-0139539205EF}"/>
              </a:ext>
            </a:extLst>
          </p:cNvPr>
          <p:cNvSpPr txBox="1"/>
          <p:nvPr/>
        </p:nvSpPr>
        <p:spPr>
          <a:xfrm>
            <a:off x="4469246" y="1345102"/>
            <a:ext cx="3171537" cy="1712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最新通知：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开题报告提交延长至</a:t>
            </a:r>
            <a:r>
              <a:rPr lang="en-US" altLang="zh-CN" dirty="0"/>
              <a:t>xx-xx-xx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……</a:t>
            </a:r>
            <a:endParaRPr lang="zh-CN" altLang="en-US" dirty="0"/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D665D71D-DD5B-7F9C-6EA2-C312B94C0280}"/>
              </a:ext>
            </a:extLst>
          </p:cNvPr>
          <p:cNvCxnSpPr/>
          <p:nvPr/>
        </p:nvCxnSpPr>
        <p:spPr>
          <a:xfrm flipH="1">
            <a:off x="8054109" y="2201169"/>
            <a:ext cx="6049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2DA3A16F-DC44-63E0-75F6-32DC6FA558E1}"/>
              </a:ext>
            </a:extLst>
          </p:cNvPr>
          <p:cNvSpPr txBox="1"/>
          <p:nvPr/>
        </p:nvSpPr>
        <p:spPr>
          <a:xfrm>
            <a:off x="8659091" y="2016503"/>
            <a:ext cx="1279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通知区域</a:t>
            </a:r>
          </a:p>
        </p:txBody>
      </p: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2D46C906-383C-66A8-1035-4B475108B475}"/>
              </a:ext>
            </a:extLst>
          </p:cNvPr>
          <p:cNvCxnSpPr>
            <a:cxnSpLocks/>
          </p:cNvCxnSpPr>
          <p:nvPr/>
        </p:nvCxnSpPr>
        <p:spPr>
          <a:xfrm flipH="1">
            <a:off x="8054109" y="484910"/>
            <a:ext cx="6049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6E06EB6D-F8C0-86B5-9991-3E021CF6A5C9}"/>
              </a:ext>
            </a:extLst>
          </p:cNvPr>
          <p:cNvSpPr txBox="1"/>
          <p:nvPr/>
        </p:nvSpPr>
        <p:spPr>
          <a:xfrm>
            <a:off x="8760688" y="300367"/>
            <a:ext cx="1953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导航栏</a:t>
            </a:r>
            <a:r>
              <a:rPr lang="en-US" altLang="zh-CN" dirty="0"/>
              <a:t>+</a:t>
            </a:r>
            <a:r>
              <a:rPr lang="zh-CN" altLang="en-US" dirty="0"/>
              <a:t>用户中心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BE3EEB9-7E18-86C6-0BE3-8B5C87845E6A}"/>
              </a:ext>
            </a:extLst>
          </p:cNvPr>
          <p:cNvSpPr txBox="1"/>
          <p:nvPr/>
        </p:nvSpPr>
        <p:spPr>
          <a:xfrm>
            <a:off x="4368800" y="785154"/>
            <a:ext cx="1750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欢迎，</a:t>
            </a:r>
            <a:r>
              <a:rPr lang="en-US" altLang="zh-CN" dirty="0"/>
              <a:t>xx</a:t>
            </a:r>
            <a:r>
              <a:rPr lang="zh-CN" altLang="en-US" dirty="0"/>
              <a:t>同学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250AFE3-2076-A2D2-0CCB-2BD61525213A}"/>
              </a:ext>
            </a:extLst>
          </p:cNvPr>
          <p:cNvSpPr txBox="1"/>
          <p:nvPr/>
        </p:nvSpPr>
        <p:spPr>
          <a:xfrm>
            <a:off x="8836891" y="785154"/>
            <a:ext cx="923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欢迎语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86696D9-EA33-175B-9E63-4BAB70E9B99F}"/>
              </a:ext>
            </a:extLst>
          </p:cNvPr>
          <p:cNvSpPr txBox="1"/>
          <p:nvPr/>
        </p:nvSpPr>
        <p:spPr>
          <a:xfrm>
            <a:off x="6758708" y="308998"/>
            <a:ext cx="1189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用户头像</a:t>
            </a: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816C3F32-C34B-3602-CFB1-38135B7DF0EB}"/>
              </a:ext>
            </a:extLst>
          </p:cNvPr>
          <p:cNvCxnSpPr/>
          <p:nvPr/>
        </p:nvCxnSpPr>
        <p:spPr>
          <a:xfrm flipH="1">
            <a:off x="8054109" y="951349"/>
            <a:ext cx="6049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8733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674283E4-D71A-2BF8-6988-3299F2200E05}"/>
              </a:ext>
            </a:extLst>
          </p:cNvPr>
          <p:cNvCxnSpPr/>
          <p:nvPr/>
        </p:nvCxnSpPr>
        <p:spPr>
          <a:xfrm>
            <a:off x="4091709" y="5885871"/>
            <a:ext cx="37037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C8CDB0F6-CFE0-7881-699A-5BB2462C5F17}"/>
              </a:ext>
            </a:extLst>
          </p:cNvPr>
          <p:cNvSpPr/>
          <p:nvPr/>
        </p:nvSpPr>
        <p:spPr>
          <a:xfrm>
            <a:off x="4216400" y="6005944"/>
            <a:ext cx="406400" cy="3786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9FEE7A2-1DAA-8854-F0E5-F8CE8BC914A9}"/>
              </a:ext>
            </a:extLst>
          </p:cNvPr>
          <p:cNvSpPr/>
          <p:nvPr/>
        </p:nvSpPr>
        <p:spPr>
          <a:xfrm>
            <a:off x="4976096" y="6005943"/>
            <a:ext cx="406400" cy="3786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F94D233-1C5B-B3AE-6991-831422C5A69C}"/>
              </a:ext>
            </a:extLst>
          </p:cNvPr>
          <p:cNvSpPr/>
          <p:nvPr/>
        </p:nvSpPr>
        <p:spPr>
          <a:xfrm>
            <a:off x="6516258" y="6005943"/>
            <a:ext cx="406400" cy="3786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073F4BD-8A1D-9468-01DE-42D706EBE7EE}"/>
              </a:ext>
            </a:extLst>
          </p:cNvPr>
          <p:cNvSpPr/>
          <p:nvPr/>
        </p:nvSpPr>
        <p:spPr>
          <a:xfrm>
            <a:off x="7188201" y="6005943"/>
            <a:ext cx="406400" cy="3786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B6668E1-7236-D940-CC61-CB2F614F9F56}"/>
              </a:ext>
            </a:extLst>
          </p:cNvPr>
          <p:cNvSpPr/>
          <p:nvPr/>
        </p:nvSpPr>
        <p:spPr>
          <a:xfrm>
            <a:off x="5735786" y="6005943"/>
            <a:ext cx="406400" cy="3786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26E8B98-DC1E-A727-F795-6973CCAFC7B6}"/>
              </a:ext>
            </a:extLst>
          </p:cNvPr>
          <p:cNvSpPr txBox="1"/>
          <p:nvPr/>
        </p:nvSpPr>
        <p:spPr>
          <a:xfrm>
            <a:off x="4091709" y="6005943"/>
            <a:ext cx="3810000" cy="378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主页     选题     指导     计划    资源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3AAF769-3B3F-58BD-B58E-8981377C9D9C}"/>
              </a:ext>
            </a:extLst>
          </p:cNvPr>
          <p:cNvSpPr/>
          <p:nvPr/>
        </p:nvSpPr>
        <p:spPr>
          <a:xfrm>
            <a:off x="4091709" y="320963"/>
            <a:ext cx="3703782" cy="621607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32535A32-3C09-249D-5B8B-33342A0CD5B6}"/>
              </a:ext>
            </a:extLst>
          </p:cNvPr>
          <p:cNvCxnSpPr/>
          <p:nvPr/>
        </p:nvCxnSpPr>
        <p:spPr>
          <a:xfrm>
            <a:off x="4091709" y="810490"/>
            <a:ext cx="37037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EAF598F8-F09C-E547-4BE6-C985A0C0035E}"/>
              </a:ext>
            </a:extLst>
          </p:cNvPr>
          <p:cNvCxnSpPr/>
          <p:nvPr/>
        </p:nvCxnSpPr>
        <p:spPr>
          <a:xfrm>
            <a:off x="4091709" y="1290781"/>
            <a:ext cx="37037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F606D013-0B9E-E188-A054-5D98A311A412}"/>
              </a:ext>
            </a:extLst>
          </p:cNvPr>
          <p:cNvSpPr/>
          <p:nvPr/>
        </p:nvSpPr>
        <p:spPr>
          <a:xfrm>
            <a:off x="4292604" y="1521696"/>
            <a:ext cx="3151905" cy="1152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305A3EC-D59D-2B9E-39CA-E53E0C7CD738}"/>
              </a:ext>
            </a:extLst>
          </p:cNvPr>
          <p:cNvSpPr/>
          <p:nvPr/>
        </p:nvSpPr>
        <p:spPr>
          <a:xfrm>
            <a:off x="4292603" y="2925588"/>
            <a:ext cx="3151905" cy="11522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77A1253-32B4-5C77-8BDF-F541BD9EB4C3}"/>
              </a:ext>
            </a:extLst>
          </p:cNvPr>
          <p:cNvSpPr/>
          <p:nvPr/>
        </p:nvSpPr>
        <p:spPr>
          <a:xfrm>
            <a:off x="4292605" y="4424223"/>
            <a:ext cx="3151904" cy="12307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2C26BE4D-3F36-6CED-2C4D-5BC5169518C7}"/>
              </a:ext>
            </a:extLst>
          </p:cNvPr>
          <p:cNvCxnSpPr/>
          <p:nvPr/>
        </p:nvCxnSpPr>
        <p:spPr>
          <a:xfrm>
            <a:off x="7594601" y="1290781"/>
            <a:ext cx="0" cy="45950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C249913C-EC88-2225-372A-A3B5CC8180F9}"/>
              </a:ext>
            </a:extLst>
          </p:cNvPr>
          <p:cNvSpPr/>
          <p:nvPr/>
        </p:nvSpPr>
        <p:spPr>
          <a:xfrm>
            <a:off x="7594600" y="1347364"/>
            <a:ext cx="200890" cy="34866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09D0828-5100-004B-F7FF-94B9CFC49DF4}"/>
              </a:ext>
            </a:extLst>
          </p:cNvPr>
          <p:cNvSpPr txBox="1"/>
          <p:nvPr/>
        </p:nvSpPr>
        <p:spPr>
          <a:xfrm>
            <a:off x="4216400" y="385679"/>
            <a:ext cx="683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选题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C582D85-4474-1D74-2A5C-D6E1F033D9B0}"/>
              </a:ext>
            </a:extLst>
          </p:cNvPr>
          <p:cNvSpPr txBox="1"/>
          <p:nvPr/>
        </p:nvSpPr>
        <p:spPr>
          <a:xfrm>
            <a:off x="4216400" y="870713"/>
            <a:ext cx="2662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[</a:t>
            </a:r>
            <a:r>
              <a:rPr lang="zh-CN" altLang="en-US" dirty="0"/>
              <a:t>输入关键词</a:t>
            </a:r>
            <a:r>
              <a:rPr lang="en-US" altLang="zh-CN" dirty="0"/>
              <a:t>……             ]         </a:t>
            </a:r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ADB3806-43B1-CC96-6574-D78584DE625C}"/>
              </a:ext>
            </a:extLst>
          </p:cNvPr>
          <p:cNvSpPr/>
          <p:nvPr/>
        </p:nvSpPr>
        <p:spPr>
          <a:xfrm>
            <a:off x="7105074" y="943262"/>
            <a:ext cx="524163" cy="2516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6FC7C3E-520F-12EE-00F9-269E52495728}"/>
              </a:ext>
            </a:extLst>
          </p:cNvPr>
          <p:cNvSpPr txBox="1"/>
          <p:nvPr/>
        </p:nvSpPr>
        <p:spPr>
          <a:xfrm>
            <a:off x="7047345" y="900732"/>
            <a:ext cx="794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搜索</a:t>
            </a: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A4CDD7ED-4668-EB1C-193C-736431798B01}"/>
              </a:ext>
            </a:extLst>
          </p:cNvPr>
          <p:cNvCxnSpPr/>
          <p:nvPr/>
        </p:nvCxnSpPr>
        <p:spPr>
          <a:xfrm flipH="1">
            <a:off x="7989455" y="570345"/>
            <a:ext cx="56341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C2684A65-E871-5437-4D13-E23A39A36506}"/>
              </a:ext>
            </a:extLst>
          </p:cNvPr>
          <p:cNvCxnSpPr/>
          <p:nvPr/>
        </p:nvCxnSpPr>
        <p:spPr>
          <a:xfrm flipH="1">
            <a:off x="7989455" y="1043709"/>
            <a:ext cx="56341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3D3A0C3F-C0FF-7B67-11A0-359DF745F8E3}"/>
              </a:ext>
            </a:extLst>
          </p:cNvPr>
          <p:cNvCxnSpPr/>
          <p:nvPr/>
        </p:nvCxnSpPr>
        <p:spPr>
          <a:xfrm flipH="1">
            <a:off x="7989455" y="1581606"/>
            <a:ext cx="56341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12354540-6BCD-869C-E20A-4551FAF10C42}"/>
              </a:ext>
            </a:extLst>
          </p:cNvPr>
          <p:cNvSpPr txBox="1"/>
          <p:nvPr/>
        </p:nvSpPr>
        <p:spPr>
          <a:xfrm>
            <a:off x="8626763" y="385679"/>
            <a:ext cx="766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标题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7C6EF67B-F406-7B6D-0D2A-8FB83859AC4F}"/>
              </a:ext>
            </a:extLst>
          </p:cNvPr>
          <p:cNvSpPr txBox="1"/>
          <p:nvPr/>
        </p:nvSpPr>
        <p:spPr>
          <a:xfrm>
            <a:off x="8626763" y="894893"/>
            <a:ext cx="988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搜索栏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A4CDED6-EEA5-6E2C-669E-D8CAD7C8350C}"/>
              </a:ext>
            </a:extLst>
          </p:cNvPr>
          <p:cNvSpPr txBox="1"/>
          <p:nvPr/>
        </p:nvSpPr>
        <p:spPr>
          <a:xfrm>
            <a:off x="8626763" y="1404107"/>
            <a:ext cx="2124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课题列表</a:t>
            </a:r>
            <a:r>
              <a:rPr lang="en-US" altLang="zh-CN" dirty="0"/>
              <a:t>+</a:t>
            </a:r>
            <a:r>
              <a:rPr lang="zh-CN" altLang="en-US" dirty="0"/>
              <a:t>滚动条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9E704EA-D782-E3BA-423B-D6798601796D}"/>
              </a:ext>
            </a:extLst>
          </p:cNvPr>
          <p:cNvSpPr txBox="1"/>
          <p:nvPr/>
        </p:nvSpPr>
        <p:spPr>
          <a:xfrm>
            <a:off x="4410358" y="1519660"/>
            <a:ext cx="2299858" cy="881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xx</a:t>
            </a:r>
            <a:r>
              <a:rPr lang="zh-CN" altLang="en-US" dirty="0"/>
              <a:t>控制系统设计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指导教师：</a:t>
            </a:r>
            <a:r>
              <a:rPr lang="en-US" altLang="zh-CN" dirty="0"/>
              <a:t>xxx</a:t>
            </a:r>
            <a:endParaRPr lang="zh-CN" altLang="en-US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DC720BA-2705-0BFB-21C6-C7CC609604DF}"/>
              </a:ext>
            </a:extLst>
          </p:cNvPr>
          <p:cNvSpPr/>
          <p:nvPr/>
        </p:nvSpPr>
        <p:spPr>
          <a:xfrm>
            <a:off x="6604000" y="2272145"/>
            <a:ext cx="745837" cy="2729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选择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59B2CED-6355-FE96-2DA8-F920BAB54C5B}"/>
              </a:ext>
            </a:extLst>
          </p:cNvPr>
          <p:cNvSpPr/>
          <p:nvPr/>
        </p:nvSpPr>
        <p:spPr>
          <a:xfrm>
            <a:off x="6603999" y="3707010"/>
            <a:ext cx="745837" cy="27296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已满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53AF2E50-0BE4-3223-A3C6-5053557F9D66}"/>
              </a:ext>
            </a:extLst>
          </p:cNvPr>
          <p:cNvSpPr/>
          <p:nvPr/>
        </p:nvSpPr>
        <p:spPr>
          <a:xfrm>
            <a:off x="6610926" y="5264484"/>
            <a:ext cx="745837" cy="2729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选择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7DBEACF1-9B5C-C66D-8707-8FCF737AC106}"/>
              </a:ext>
            </a:extLst>
          </p:cNvPr>
          <p:cNvSpPr txBox="1"/>
          <p:nvPr/>
        </p:nvSpPr>
        <p:spPr>
          <a:xfrm>
            <a:off x="4383808" y="2938353"/>
            <a:ext cx="2299858" cy="881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xx</a:t>
            </a:r>
            <a:r>
              <a:rPr lang="zh-CN" altLang="en-US" dirty="0"/>
              <a:t>网站设计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指导教师：</a:t>
            </a:r>
            <a:r>
              <a:rPr lang="en-US" altLang="zh-CN" dirty="0"/>
              <a:t>xxx</a:t>
            </a:r>
            <a:endParaRPr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BC3F120-CABE-1311-0252-FBD7B181337B}"/>
              </a:ext>
            </a:extLst>
          </p:cNvPr>
          <p:cNvSpPr txBox="1"/>
          <p:nvPr/>
        </p:nvSpPr>
        <p:spPr>
          <a:xfrm>
            <a:off x="4383808" y="4429994"/>
            <a:ext cx="2299858" cy="881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xx</a:t>
            </a:r>
            <a:r>
              <a:rPr lang="zh-CN" altLang="en-US" dirty="0"/>
              <a:t>算法设计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指导教师：</a:t>
            </a:r>
            <a:r>
              <a:rPr lang="en-US" altLang="zh-CN" dirty="0"/>
              <a:t>xxx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23816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50D9D062-C775-2950-108D-0E0A20E43FB6}"/>
              </a:ext>
            </a:extLst>
          </p:cNvPr>
          <p:cNvCxnSpPr/>
          <p:nvPr/>
        </p:nvCxnSpPr>
        <p:spPr>
          <a:xfrm>
            <a:off x="4091709" y="5885871"/>
            <a:ext cx="37037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627B16CE-8C69-2C53-60A7-B657B45A0A48}"/>
              </a:ext>
            </a:extLst>
          </p:cNvPr>
          <p:cNvSpPr/>
          <p:nvPr/>
        </p:nvSpPr>
        <p:spPr>
          <a:xfrm>
            <a:off x="4216400" y="6005944"/>
            <a:ext cx="406400" cy="3786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3ABE8D7-D74F-729E-FBED-AED34FE7CCFF}"/>
              </a:ext>
            </a:extLst>
          </p:cNvPr>
          <p:cNvSpPr/>
          <p:nvPr/>
        </p:nvSpPr>
        <p:spPr>
          <a:xfrm>
            <a:off x="4976096" y="6005943"/>
            <a:ext cx="406400" cy="3786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FC67152-0315-26BD-DED3-258D1EAC16B2}"/>
              </a:ext>
            </a:extLst>
          </p:cNvPr>
          <p:cNvSpPr/>
          <p:nvPr/>
        </p:nvSpPr>
        <p:spPr>
          <a:xfrm>
            <a:off x="6516258" y="6005943"/>
            <a:ext cx="406400" cy="3786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B24E1F4-AB48-D143-6D3C-253559E9792A}"/>
              </a:ext>
            </a:extLst>
          </p:cNvPr>
          <p:cNvSpPr/>
          <p:nvPr/>
        </p:nvSpPr>
        <p:spPr>
          <a:xfrm>
            <a:off x="7188201" y="6005943"/>
            <a:ext cx="406400" cy="3786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0915E46-0A2A-0B13-118C-13C47F97AB1B}"/>
              </a:ext>
            </a:extLst>
          </p:cNvPr>
          <p:cNvSpPr/>
          <p:nvPr/>
        </p:nvSpPr>
        <p:spPr>
          <a:xfrm>
            <a:off x="5735786" y="6005943"/>
            <a:ext cx="406400" cy="3786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035B371-F412-11A5-EE42-076DE2A986D0}"/>
              </a:ext>
            </a:extLst>
          </p:cNvPr>
          <p:cNvSpPr txBox="1"/>
          <p:nvPr/>
        </p:nvSpPr>
        <p:spPr>
          <a:xfrm>
            <a:off x="4091709" y="6005943"/>
            <a:ext cx="3810000" cy="378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主页     选题     指导     计划    资源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94C2C42-DE7A-EF91-1CFE-6DDADF61F388}"/>
              </a:ext>
            </a:extLst>
          </p:cNvPr>
          <p:cNvSpPr/>
          <p:nvPr/>
        </p:nvSpPr>
        <p:spPr>
          <a:xfrm>
            <a:off x="4091709" y="320963"/>
            <a:ext cx="3703782" cy="621607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DA94A82A-1E74-E624-2896-8EC11F1A3B90}"/>
              </a:ext>
            </a:extLst>
          </p:cNvPr>
          <p:cNvCxnSpPr/>
          <p:nvPr/>
        </p:nvCxnSpPr>
        <p:spPr>
          <a:xfrm>
            <a:off x="4091709" y="810490"/>
            <a:ext cx="37037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AF0C91C-7169-250A-F413-92AD82BA235D}"/>
              </a:ext>
            </a:extLst>
          </p:cNvPr>
          <p:cNvCxnSpPr/>
          <p:nvPr/>
        </p:nvCxnSpPr>
        <p:spPr>
          <a:xfrm>
            <a:off x="4091709" y="2574635"/>
            <a:ext cx="37037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0E6C7A05-C25C-17E7-ED82-1F84B7E2F5F6}"/>
              </a:ext>
            </a:extLst>
          </p:cNvPr>
          <p:cNvSpPr txBox="1"/>
          <p:nvPr/>
        </p:nvSpPr>
        <p:spPr>
          <a:xfrm>
            <a:off x="4216400" y="385679"/>
            <a:ext cx="1166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指导管理</a:t>
            </a: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07CCDB0D-7A51-63D6-5D56-71981083D618}"/>
              </a:ext>
            </a:extLst>
          </p:cNvPr>
          <p:cNvCxnSpPr/>
          <p:nvPr/>
        </p:nvCxnSpPr>
        <p:spPr>
          <a:xfrm flipH="1">
            <a:off x="7989455" y="570345"/>
            <a:ext cx="56341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A5166A46-D8AD-995C-B19F-D84EC60081B4}"/>
              </a:ext>
            </a:extLst>
          </p:cNvPr>
          <p:cNvCxnSpPr/>
          <p:nvPr/>
        </p:nvCxnSpPr>
        <p:spPr>
          <a:xfrm flipH="1">
            <a:off x="7989455" y="1542473"/>
            <a:ext cx="56341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2D20CCE7-5392-62E1-DFE4-567454A1E100}"/>
              </a:ext>
            </a:extLst>
          </p:cNvPr>
          <p:cNvCxnSpPr/>
          <p:nvPr/>
        </p:nvCxnSpPr>
        <p:spPr>
          <a:xfrm flipH="1">
            <a:off x="7989455" y="3336515"/>
            <a:ext cx="56341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4E5007FE-71EE-1817-FD9E-C49480075105}"/>
              </a:ext>
            </a:extLst>
          </p:cNvPr>
          <p:cNvSpPr txBox="1"/>
          <p:nvPr/>
        </p:nvSpPr>
        <p:spPr>
          <a:xfrm>
            <a:off x="8626763" y="385679"/>
            <a:ext cx="766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标题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415239A-F177-CBD2-3F5D-9A6408CD5DF3}"/>
              </a:ext>
            </a:extLst>
          </p:cNvPr>
          <p:cNvSpPr txBox="1"/>
          <p:nvPr/>
        </p:nvSpPr>
        <p:spPr>
          <a:xfrm>
            <a:off x="8626763" y="1404107"/>
            <a:ext cx="2124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导师信息</a:t>
            </a: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EF05358A-9E4F-A8CF-8DC8-A1A0C380ADAA}"/>
              </a:ext>
            </a:extLst>
          </p:cNvPr>
          <p:cNvCxnSpPr/>
          <p:nvPr/>
        </p:nvCxnSpPr>
        <p:spPr>
          <a:xfrm>
            <a:off x="4091709" y="4334163"/>
            <a:ext cx="37037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76C78D8F-662E-A5B4-5630-0D31E3A6094E}"/>
              </a:ext>
            </a:extLst>
          </p:cNvPr>
          <p:cNvCxnSpPr/>
          <p:nvPr/>
        </p:nvCxnSpPr>
        <p:spPr>
          <a:xfrm flipH="1">
            <a:off x="7989455" y="4899891"/>
            <a:ext cx="56341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D8445250-43D8-B18E-3C34-8333DCD0D52E}"/>
              </a:ext>
            </a:extLst>
          </p:cNvPr>
          <p:cNvSpPr txBox="1"/>
          <p:nvPr/>
        </p:nvSpPr>
        <p:spPr>
          <a:xfrm>
            <a:off x="4216400" y="802403"/>
            <a:ext cx="2971801" cy="1712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导师信息：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xxx  |  xx</a:t>
            </a:r>
            <a:r>
              <a:rPr lang="zh-CN" altLang="en-US" dirty="0"/>
              <a:t>学院  </a:t>
            </a:r>
            <a:r>
              <a:rPr lang="en-US" altLang="zh-CN" dirty="0"/>
              <a:t>xx</a:t>
            </a:r>
            <a:r>
              <a:rPr lang="zh-CN" altLang="en-US" dirty="0"/>
              <a:t>办公室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电话：</a:t>
            </a:r>
            <a:r>
              <a:rPr lang="en-US" altLang="zh-CN" dirty="0"/>
              <a:t>xxx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邮箱：</a:t>
            </a:r>
            <a:r>
              <a:rPr lang="en-US" altLang="zh-CN" dirty="0"/>
              <a:t>xxx</a:t>
            </a:r>
            <a:endParaRPr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8EF847D-ECA3-B910-FDAD-D242C58C6075}"/>
              </a:ext>
            </a:extLst>
          </p:cNvPr>
          <p:cNvSpPr txBox="1"/>
          <p:nvPr/>
        </p:nvSpPr>
        <p:spPr>
          <a:xfrm>
            <a:off x="4216400" y="2561346"/>
            <a:ext cx="3378201" cy="1670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最新消息：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xxx</a:t>
            </a:r>
            <a:r>
              <a:rPr lang="zh-CN" altLang="en-US" dirty="0"/>
              <a:t>：初稿修改意见</a:t>
            </a:r>
            <a:r>
              <a:rPr lang="en-US" altLang="zh-CN" dirty="0"/>
              <a:t>.docx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xxx</a:t>
            </a:r>
            <a:r>
              <a:rPr lang="zh-CN" altLang="en-US" dirty="0"/>
              <a:t>：周四开会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sz="1600" dirty="0"/>
              <a:t>[</a:t>
            </a:r>
            <a:r>
              <a:rPr lang="zh-CN" altLang="en-US" sz="1600" dirty="0"/>
              <a:t>查看全部消息</a:t>
            </a:r>
            <a:r>
              <a:rPr lang="en-US" altLang="zh-CN" sz="1600" dirty="0"/>
              <a:t>]</a:t>
            </a:r>
            <a:endParaRPr lang="zh-CN" altLang="en-US" sz="16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21F81BC-9D08-C4CB-2D72-4AB1E0762F9A}"/>
              </a:ext>
            </a:extLst>
          </p:cNvPr>
          <p:cNvSpPr txBox="1"/>
          <p:nvPr/>
        </p:nvSpPr>
        <p:spPr>
          <a:xfrm>
            <a:off x="4186386" y="4352067"/>
            <a:ext cx="3505200" cy="881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任务进度：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开题报告         </a:t>
            </a:r>
            <a:r>
              <a:rPr lang="en-US" altLang="zh-CN" dirty="0"/>
              <a:t>[                 ]80%</a:t>
            </a:r>
            <a:endParaRPr lang="zh-CN" altLang="en-US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2A0C663-B012-8761-816F-7C9DD5CB6BD5}"/>
              </a:ext>
            </a:extLst>
          </p:cNvPr>
          <p:cNvSpPr/>
          <p:nvPr/>
        </p:nvSpPr>
        <p:spPr>
          <a:xfrm>
            <a:off x="6126022" y="4966858"/>
            <a:ext cx="780472" cy="17549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12794F19-5A35-709B-8F2F-913A26A2B69A}"/>
              </a:ext>
            </a:extLst>
          </p:cNvPr>
          <p:cNvSpPr/>
          <p:nvPr/>
        </p:nvSpPr>
        <p:spPr>
          <a:xfrm>
            <a:off x="6449289" y="5442650"/>
            <a:ext cx="1145312" cy="29078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上传文件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08C30940-5D6A-D522-B8B5-C5C519396D42}"/>
              </a:ext>
            </a:extLst>
          </p:cNvPr>
          <p:cNvSpPr txBox="1"/>
          <p:nvPr/>
        </p:nvSpPr>
        <p:spPr>
          <a:xfrm>
            <a:off x="8626763" y="3151849"/>
            <a:ext cx="1191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消息记录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CF311963-B153-0AD8-EB04-4847AD9F1D48}"/>
              </a:ext>
            </a:extLst>
          </p:cNvPr>
          <p:cNvSpPr txBox="1"/>
          <p:nvPr/>
        </p:nvSpPr>
        <p:spPr>
          <a:xfrm>
            <a:off x="8709892" y="4714925"/>
            <a:ext cx="1191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任务栏</a:t>
            </a:r>
          </a:p>
        </p:txBody>
      </p:sp>
    </p:spTree>
    <p:extLst>
      <p:ext uri="{BB962C8B-B14F-4D97-AF65-F5344CB8AC3E}">
        <p14:creationId xmlns:p14="http://schemas.microsoft.com/office/powerpoint/2010/main" val="3599498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17B6D55E-9FEF-518F-9992-A9F02BD43D24}"/>
              </a:ext>
            </a:extLst>
          </p:cNvPr>
          <p:cNvCxnSpPr/>
          <p:nvPr/>
        </p:nvCxnSpPr>
        <p:spPr>
          <a:xfrm>
            <a:off x="4091709" y="5885871"/>
            <a:ext cx="37037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6304FF9B-7C12-09F2-433D-26E0BCA7F336}"/>
              </a:ext>
            </a:extLst>
          </p:cNvPr>
          <p:cNvSpPr/>
          <p:nvPr/>
        </p:nvSpPr>
        <p:spPr>
          <a:xfrm>
            <a:off x="4216400" y="6005944"/>
            <a:ext cx="406400" cy="3786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6A49B5E-EDF1-997D-A408-7F5FB7794CAC}"/>
              </a:ext>
            </a:extLst>
          </p:cNvPr>
          <p:cNvSpPr/>
          <p:nvPr/>
        </p:nvSpPr>
        <p:spPr>
          <a:xfrm>
            <a:off x="4976096" y="6005943"/>
            <a:ext cx="406400" cy="3786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360353C-AF14-CCF5-4032-F7A1E40F76B3}"/>
              </a:ext>
            </a:extLst>
          </p:cNvPr>
          <p:cNvSpPr/>
          <p:nvPr/>
        </p:nvSpPr>
        <p:spPr>
          <a:xfrm>
            <a:off x="6516258" y="6005943"/>
            <a:ext cx="406400" cy="3786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D3144CA-725B-B4F6-5AA6-9CFAE2FFF09F}"/>
              </a:ext>
            </a:extLst>
          </p:cNvPr>
          <p:cNvSpPr/>
          <p:nvPr/>
        </p:nvSpPr>
        <p:spPr>
          <a:xfrm>
            <a:off x="7188201" y="6005943"/>
            <a:ext cx="406400" cy="3786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3F9AFE-D348-02CC-8D97-0D49B08219D5}"/>
              </a:ext>
            </a:extLst>
          </p:cNvPr>
          <p:cNvSpPr/>
          <p:nvPr/>
        </p:nvSpPr>
        <p:spPr>
          <a:xfrm>
            <a:off x="5735786" y="6005943"/>
            <a:ext cx="406400" cy="3786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0F138CC-4066-0BA0-E689-EB55FFF66355}"/>
              </a:ext>
            </a:extLst>
          </p:cNvPr>
          <p:cNvSpPr txBox="1"/>
          <p:nvPr/>
        </p:nvSpPr>
        <p:spPr>
          <a:xfrm>
            <a:off x="4091709" y="6005943"/>
            <a:ext cx="3810000" cy="378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主页     选题     指导     计划    资源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D4B528A-CAC0-DA15-ED53-42244D93EA3F}"/>
              </a:ext>
            </a:extLst>
          </p:cNvPr>
          <p:cNvSpPr/>
          <p:nvPr/>
        </p:nvSpPr>
        <p:spPr>
          <a:xfrm>
            <a:off x="4091709" y="320963"/>
            <a:ext cx="3703782" cy="621607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E5D18D98-A8AA-DEAB-8D35-51F713C7E173}"/>
              </a:ext>
            </a:extLst>
          </p:cNvPr>
          <p:cNvCxnSpPr/>
          <p:nvPr/>
        </p:nvCxnSpPr>
        <p:spPr>
          <a:xfrm>
            <a:off x="4091709" y="810490"/>
            <a:ext cx="37037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BCC2A5A3-D901-BB40-E231-382545CCDD77}"/>
              </a:ext>
            </a:extLst>
          </p:cNvPr>
          <p:cNvCxnSpPr/>
          <p:nvPr/>
        </p:nvCxnSpPr>
        <p:spPr>
          <a:xfrm>
            <a:off x="4092868" y="2087582"/>
            <a:ext cx="37037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DFABE289-2466-4089-BAD5-6393A0A6DEA9}"/>
              </a:ext>
            </a:extLst>
          </p:cNvPr>
          <p:cNvSpPr txBox="1"/>
          <p:nvPr/>
        </p:nvSpPr>
        <p:spPr>
          <a:xfrm>
            <a:off x="4216400" y="385679"/>
            <a:ext cx="1166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计划安排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58B6357B-4820-D8EC-C2E7-D9056A061C44}"/>
              </a:ext>
            </a:extLst>
          </p:cNvPr>
          <p:cNvCxnSpPr/>
          <p:nvPr/>
        </p:nvCxnSpPr>
        <p:spPr>
          <a:xfrm flipH="1">
            <a:off x="7989455" y="570345"/>
            <a:ext cx="56341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E335DDC3-40E0-924D-D110-0908ACD31AB7}"/>
              </a:ext>
            </a:extLst>
          </p:cNvPr>
          <p:cNvCxnSpPr/>
          <p:nvPr/>
        </p:nvCxnSpPr>
        <p:spPr>
          <a:xfrm flipH="1">
            <a:off x="7989455" y="1542473"/>
            <a:ext cx="56341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B6910A7-768F-8213-9308-F149A033D423}"/>
              </a:ext>
            </a:extLst>
          </p:cNvPr>
          <p:cNvCxnSpPr/>
          <p:nvPr/>
        </p:nvCxnSpPr>
        <p:spPr>
          <a:xfrm flipH="1">
            <a:off x="7989455" y="3126328"/>
            <a:ext cx="56341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27D25214-C492-37E4-CA6D-CE6BB8A93FBE}"/>
              </a:ext>
            </a:extLst>
          </p:cNvPr>
          <p:cNvSpPr txBox="1"/>
          <p:nvPr/>
        </p:nvSpPr>
        <p:spPr>
          <a:xfrm>
            <a:off x="8626763" y="385679"/>
            <a:ext cx="766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标题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F65764B-EE01-FDBC-B68A-78EC25850AEB}"/>
              </a:ext>
            </a:extLst>
          </p:cNvPr>
          <p:cNvSpPr txBox="1"/>
          <p:nvPr/>
        </p:nvSpPr>
        <p:spPr>
          <a:xfrm>
            <a:off x="4186386" y="790945"/>
            <a:ext cx="2971801" cy="1296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总进度：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 </a:t>
            </a:r>
            <a:r>
              <a:rPr lang="en-US" altLang="zh-CN" dirty="0"/>
              <a:t>[                                  ]20%</a:t>
            </a:r>
          </a:p>
          <a:p>
            <a:pPr>
              <a:lnSpc>
                <a:spcPct val="150000"/>
              </a:lnSpc>
            </a:pPr>
            <a:r>
              <a:rPr lang="zh-CN" altLang="en-US" sz="1600" dirty="0"/>
              <a:t>已完成</a:t>
            </a:r>
            <a:r>
              <a:rPr lang="en-US" altLang="zh-CN" sz="1600" dirty="0"/>
              <a:t>2/10</a:t>
            </a:r>
            <a:r>
              <a:rPr lang="zh-CN" altLang="en-US" sz="1600" dirty="0"/>
              <a:t>个里程碑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97DD265-F6A3-79DC-1454-E6194EA9C693}"/>
              </a:ext>
            </a:extLst>
          </p:cNvPr>
          <p:cNvSpPr txBox="1"/>
          <p:nvPr/>
        </p:nvSpPr>
        <p:spPr>
          <a:xfrm>
            <a:off x="4216400" y="2123516"/>
            <a:ext cx="3378201" cy="1296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时间轴：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/>
              <a:t>选题确定   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     </a:t>
            </a:r>
            <a:r>
              <a:rPr lang="zh-CN" altLang="en-US" sz="1600" dirty="0"/>
              <a:t>已完成  </a:t>
            </a:r>
            <a:r>
              <a:rPr lang="en-US" altLang="zh-CN" sz="1600" dirty="0"/>
              <a:t>xx-xx-xx</a:t>
            </a:r>
            <a:endParaRPr lang="en-US" altLang="zh-CN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BED4F3F-C094-C4B4-E16D-97B3DDAF3811}"/>
              </a:ext>
            </a:extLst>
          </p:cNvPr>
          <p:cNvSpPr txBox="1"/>
          <p:nvPr/>
        </p:nvSpPr>
        <p:spPr>
          <a:xfrm>
            <a:off x="8566726" y="1357807"/>
            <a:ext cx="1191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总进度条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8112806-B332-CDC7-A277-DEF2FCEB4100}"/>
              </a:ext>
            </a:extLst>
          </p:cNvPr>
          <p:cNvSpPr txBox="1"/>
          <p:nvPr/>
        </p:nvSpPr>
        <p:spPr>
          <a:xfrm>
            <a:off x="8603671" y="2941662"/>
            <a:ext cx="1191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计划轴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6ECB492-B06F-EDB9-C3E3-C86AEFC66EB4}"/>
              </a:ext>
            </a:extLst>
          </p:cNvPr>
          <p:cNvSpPr/>
          <p:nvPr/>
        </p:nvSpPr>
        <p:spPr>
          <a:xfrm>
            <a:off x="4419601" y="1401125"/>
            <a:ext cx="556496" cy="21524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CC2C0C6-A2EA-DC2B-F70B-DCB68BDE5C5F}"/>
              </a:ext>
            </a:extLst>
          </p:cNvPr>
          <p:cNvSpPr txBox="1"/>
          <p:nvPr/>
        </p:nvSpPr>
        <p:spPr>
          <a:xfrm>
            <a:off x="4232565" y="3408450"/>
            <a:ext cx="3528288" cy="2086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开题报告   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     </a:t>
            </a:r>
            <a:r>
              <a:rPr lang="zh-CN" altLang="en-US" sz="1600" dirty="0"/>
              <a:t>进行中   截止</a:t>
            </a:r>
            <a:r>
              <a:rPr lang="en-US" altLang="zh-CN" sz="1600" dirty="0"/>
              <a:t>xx-xx-xx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实验设计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     </a:t>
            </a:r>
            <a:r>
              <a:rPr lang="zh-CN" altLang="en-US" sz="1600" dirty="0"/>
              <a:t>未开始   截止</a:t>
            </a:r>
            <a:r>
              <a:rPr lang="en-US" altLang="zh-CN" sz="1600" dirty="0"/>
              <a:t>xx-xx-xx</a:t>
            </a:r>
          </a:p>
          <a:p>
            <a:pPr>
              <a:lnSpc>
                <a:spcPct val="150000"/>
              </a:lnSpc>
            </a:pPr>
            <a:r>
              <a:rPr lang="en-US" altLang="zh-CN" sz="1600" b="1" dirty="0"/>
              <a:t>……</a:t>
            </a:r>
            <a:endParaRPr lang="en-US" altLang="zh-CN" b="1" dirty="0"/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1ED1A37C-E90B-242F-8B6B-7353981C9F30}"/>
              </a:ext>
            </a:extLst>
          </p:cNvPr>
          <p:cNvCxnSpPr/>
          <p:nvPr/>
        </p:nvCxnSpPr>
        <p:spPr>
          <a:xfrm>
            <a:off x="7557656" y="2087582"/>
            <a:ext cx="0" cy="37982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4A41F038-B6EC-5918-AF25-4963AFDEFF5C}"/>
              </a:ext>
            </a:extLst>
          </p:cNvPr>
          <p:cNvSpPr/>
          <p:nvPr/>
        </p:nvSpPr>
        <p:spPr>
          <a:xfrm>
            <a:off x="7559962" y="2123516"/>
            <a:ext cx="235528" cy="73975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016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FFF5E22F-9228-92A4-4FEF-7CA59501E720}"/>
              </a:ext>
            </a:extLst>
          </p:cNvPr>
          <p:cNvCxnSpPr/>
          <p:nvPr/>
        </p:nvCxnSpPr>
        <p:spPr>
          <a:xfrm>
            <a:off x="4091709" y="5885871"/>
            <a:ext cx="37037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2DF35DE0-F745-2505-E7FE-053FA33E25D9}"/>
              </a:ext>
            </a:extLst>
          </p:cNvPr>
          <p:cNvSpPr/>
          <p:nvPr/>
        </p:nvSpPr>
        <p:spPr>
          <a:xfrm>
            <a:off x="4216400" y="6005944"/>
            <a:ext cx="406400" cy="3786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ED2F723-1FD2-E655-14B6-CFF64E23B120}"/>
              </a:ext>
            </a:extLst>
          </p:cNvPr>
          <p:cNvSpPr/>
          <p:nvPr/>
        </p:nvSpPr>
        <p:spPr>
          <a:xfrm>
            <a:off x="4976096" y="6005943"/>
            <a:ext cx="406400" cy="3786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DE77DCC-8FC9-D87D-6914-0379B7F42F89}"/>
              </a:ext>
            </a:extLst>
          </p:cNvPr>
          <p:cNvSpPr/>
          <p:nvPr/>
        </p:nvSpPr>
        <p:spPr>
          <a:xfrm>
            <a:off x="6516258" y="6005943"/>
            <a:ext cx="406400" cy="3786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8C668AD-86CF-3336-AC4B-02E975979C26}"/>
              </a:ext>
            </a:extLst>
          </p:cNvPr>
          <p:cNvSpPr/>
          <p:nvPr/>
        </p:nvSpPr>
        <p:spPr>
          <a:xfrm>
            <a:off x="7188201" y="6005943"/>
            <a:ext cx="406400" cy="3786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20E7C7D-9C56-2E7C-6ACB-F1EE96B5E6D6}"/>
              </a:ext>
            </a:extLst>
          </p:cNvPr>
          <p:cNvSpPr/>
          <p:nvPr/>
        </p:nvSpPr>
        <p:spPr>
          <a:xfrm>
            <a:off x="5735786" y="6005943"/>
            <a:ext cx="406400" cy="3786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5208BE8-A16E-9F1F-37A1-FB9D7C27B3E0}"/>
              </a:ext>
            </a:extLst>
          </p:cNvPr>
          <p:cNvSpPr txBox="1"/>
          <p:nvPr/>
        </p:nvSpPr>
        <p:spPr>
          <a:xfrm>
            <a:off x="4091709" y="6005943"/>
            <a:ext cx="3810000" cy="378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主页     选题     指导     计划    资源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0090750-2FB4-5577-CD63-210027C6059B}"/>
              </a:ext>
            </a:extLst>
          </p:cNvPr>
          <p:cNvSpPr/>
          <p:nvPr/>
        </p:nvSpPr>
        <p:spPr>
          <a:xfrm>
            <a:off x="4091709" y="320963"/>
            <a:ext cx="3703782" cy="621607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461E61E3-CA98-BD73-0381-54A5FC942D4B}"/>
              </a:ext>
            </a:extLst>
          </p:cNvPr>
          <p:cNvCxnSpPr/>
          <p:nvPr/>
        </p:nvCxnSpPr>
        <p:spPr>
          <a:xfrm>
            <a:off x="4091709" y="810490"/>
            <a:ext cx="37037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9F27ADBD-8435-48F7-3354-43422D41E4E4}"/>
              </a:ext>
            </a:extLst>
          </p:cNvPr>
          <p:cNvCxnSpPr/>
          <p:nvPr/>
        </p:nvCxnSpPr>
        <p:spPr>
          <a:xfrm>
            <a:off x="4091709" y="1290781"/>
            <a:ext cx="37037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8B84751D-94CB-0C6B-72A6-F31D3F9ED883}"/>
              </a:ext>
            </a:extLst>
          </p:cNvPr>
          <p:cNvSpPr/>
          <p:nvPr/>
        </p:nvSpPr>
        <p:spPr>
          <a:xfrm>
            <a:off x="4276434" y="2153888"/>
            <a:ext cx="3108032" cy="9005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D92134E-9E75-7ABD-BFBD-5B7128BA034C}"/>
              </a:ext>
            </a:extLst>
          </p:cNvPr>
          <p:cNvSpPr/>
          <p:nvPr/>
        </p:nvSpPr>
        <p:spPr>
          <a:xfrm>
            <a:off x="4276434" y="3381680"/>
            <a:ext cx="3177280" cy="9981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A345398-A467-D8A1-DE41-61013BCC09C7}"/>
              </a:ext>
            </a:extLst>
          </p:cNvPr>
          <p:cNvSpPr/>
          <p:nvPr/>
        </p:nvSpPr>
        <p:spPr>
          <a:xfrm>
            <a:off x="4262581" y="4646737"/>
            <a:ext cx="3191133" cy="98856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8B097606-EB80-E97F-A6F8-FAFB2BCCD4A5}"/>
              </a:ext>
            </a:extLst>
          </p:cNvPr>
          <p:cNvCxnSpPr>
            <a:cxnSpLocks/>
          </p:cNvCxnSpPr>
          <p:nvPr/>
        </p:nvCxnSpPr>
        <p:spPr>
          <a:xfrm>
            <a:off x="7594601" y="1757275"/>
            <a:ext cx="0" cy="412859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FF63DF10-91EC-F7E7-F3D9-95441D38670D}"/>
              </a:ext>
            </a:extLst>
          </p:cNvPr>
          <p:cNvSpPr/>
          <p:nvPr/>
        </p:nvSpPr>
        <p:spPr>
          <a:xfrm>
            <a:off x="7594601" y="2352301"/>
            <a:ext cx="200890" cy="34866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1F5E09E-1A58-F94F-35AB-579315781E60}"/>
              </a:ext>
            </a:extLst>
          </p:cNvPr>
          <p:cNvSpPr txBox="1"/>
          <p:nvPr/>
        </p:nvSpPr>
        <p:spPr>
          <a:xfrm>
            <a:off x="4216400" y="385679"/>
            <a:ext cx="1408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资源列表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538C9D0-DA63-888A-F101-D2EC3D0CE9B5}"/>
              </a:ext>
            </a:extLst>
          </p:cNvPr>
          <p:cNvSpPr txBox="1"/>
          <p:nvPr/>
        </p:nvSpPr>
        <p:spPr>
          <a:xfrm>
            <a:off x="4216400" y="870713"/>
            <a:ext cx="2662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[</a:t>
            </a:r>
            <a:r>
              <a:rPr lang="zh-CN" altLang="en-US" dirty="0"/>
              <a:t>输入关键词</a:t>
            </a:r>
            <a:r>
              <a:rPr lang="en-US" altLang="zh-CN" dirty="0"/>
              <a:t>……             ]         </a:t>
            </a:r>
            <a:endParaRPr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E551E4A-0611-8261-236E-0B2F2A34D3F2}"/>
              </a:ext>
            </a:extLst>
          </p:cNvPr>
          <p:cNvSpPr/>
          <p:nvPr/>
        </p:nvSpPr>
        <p:spPr>
          <a:xfrm>
            <a:off x="7105074" y="943262"/>
            <a:ext cx="524163" cy="25169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B27CAD5-C466-BCB5-9C90-96F73420B15B}"/>
              </a:ext>
            </a:extLst>
          </p:cNvPr>
          <p:cNvSpPr txBox="1"/>
          <p:nvPr/>
        </p:nvSpPr>
        <p:spPr>
          <a:xfrm>
            <a:off x="7062360" y="854128"/>
            <a:ext cx="794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搜索</a:t>
            </a: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2AA277B5-4FDA-8AE8-0425-46C583501F2C}"/>
              </a:ext>
            </a:extLst>
          </p:cNvPr>
          <p:cNvCxnSpPr/>
          <p:nvPr/>
        </p:nvCxnSpPr>
        <p:spPr>
          <a:xfrm flipH="1">
            <a:off x="7989455" y="570345"/>
            <a:ext cx="56341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3D5943D6-79C3-47DB-0829-8E413C37BFDD}"/>
              </a:ext>
            </a:extLst>
          </p:cNvPr>
          <p:cNvCxnSpPr/>
          <p:nvPr/>
        </p:nvCxnSpPr>
        <p:spPr>
          <a:xfrm flipH="1">
            <a:off x="7989455" y="1043709"/>
            <a:ext cx="56341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AC78BDD2-6241-45E6-59A9-D1199DA392FA}"/>
              </a:ext>
            </a:extLst>
          </p:cNvPr>
          <p:cNvCxnSpPr/>
          <p:nvPr/>
        </p:nvCxnSpPr>
        <p:spPr>
          <a:xfrm flipH="1">
            <a:off x="7989455" y="1581606"/>
            <a:ext cx="56341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A77531EC-2BCE-5E89-3922-A2A7726C215A}"/>
              </a:ext>
            </a:extLst>
          </p:cNvPr>
          <p:cNvSpPr txBox="1"/>
          <p:nvPr/>
        </p:nvSpPr>
        <p:spPr>
          <a:xfrm>
            <a:off x="8626763" y="385679"/>
            <a:ext cx="766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标题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FEC3544-C0C5-F631-76E8-713A780CFC00}"/>
              </a:ext>
            </a:extLst>
          </p:cNvPr>
          <p:cNvSpPr txBox="1"/>
          <p:nvPr/>
        </p:nvSpPr>
        <p:spPr>
          <a:xfrm>
            <a:off x="8626763" y="894893"/>
            <a:ext cx="988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搜索栏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08C7C09-595A-1C90-0D8C-FEE80BBE8078}"/>
              </a:ext>
            </a:extLst>
          </p:cNvPr>
          <p:cNvSpPr txBox="1"/>
          <p:nvPr/>
        </p:nvSpPr>
        <p:spPr>
          <a:xfrm>
            <a:off x="8626763" y="1404107"/>
            <a:ext cx="2124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标签页切换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F713F27-5F42-E0A4-650C-2DD4F5F102DC}"/>
              </a:ext>
            </a:extLst>
          </p:cNvPr>
          <p:cNvSpPr txBox="1"/>
          <p:nvPr/>
        </p:nvSpPr>
        <p:spPr>
          <a:xfrm>
            <a:off x="4350315" y="2141194"/>
            <a:ext cx="2299858" cy="881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毕业论文写作指南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概要：</a:t>
            </a:r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D358C2F-999F-00EF-4D7C-9B254832FF47}"/>
              </a:ext>
            </a:extLst>
          </p:cNvPr>
          <p:cNvSpPr/>
          <p:nvPr/>
        </p:nvSpPr>
        <p:spPr>
          <a:xfrm>
            <a:off x="6587829" y="2652595"/>
            <a:ext cx="745837" cy="2729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下载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C3C65E6-06D6-DC76-EFF3-2C5134C1552B}"/>
              </a:ext>
            </a:extLst>
          </p:cNvPr>
          <p:cNvSpPr/>
          <p:nvPr/>
        </p:nvSpPr>
        <p:spPr>
          <a:xfrm>
            <a:off x="6587830" y="4009026"/>
            <a:ext cx="745837" cy="2729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下载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6832A9E-ABD8-2E3B-33FB-536E36341DFE}"/>
              </a:ext>
            </a:extLst>
          </p:cNvPr>
          <p:cNvSpPr/>
          <p:nvPr/>
        </p:nvSpPr>
        <p:spPr>
          <a:xfrm>
            <a:off x="6580903" y="5244826"/>
            <a:ext cx="745837" cy="2729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下载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C86406B-1594-EC92-C111-396A7553249E}"/>
              </a:ext>
            </a:extLst>
          </p:cNvPr>
          <p:cNvSpPr txBox="1"/>
          <p:nvPr/>
        </p:nvSpPr>
        <p:spPr>
          <a:xfrm>
            <a:off x="4375717" y="3390921"/>
            <a:ext cx="2299858" cy="881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格式模板下载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概要：</a:t>
            </a:r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2CC633E-9420-6D49-5AEA-B927555CE9F7}"/>
              </a:ext>
            </a:extLst>
          </p:cNvPr>
          <p:cNvSpPr txBox="1"/>
          <p:nvPr/>
        </p:nvSpPr>
        <p:spPr>
          <a:xfrm>
            <a:off x="4382645" y="4661745"/>
            <a:ext cx="2299858" cy="881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参考文献引用指导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概要：</a:t>
            </a:r>
            <a:r>
              <a:rPr lang="en-US" altLang="zh-CN" dirty="0"/>
              <a:t>……</a:t>
            </a:r>
            <a:endParaRPr lang="zh-CN" altLang="en-US" dirty="0"/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4552F313-4700-4380-9B62-D90A4372242C}"/>
              </a:ext>
            </a:extLst>
          </p:cNvPr>
          <p:cNvCxnSpPr/>
          <p:nvPr/>
        </p:nvCxnSpPr>
        <p:spPr>
          <a:xfrm>
            <a:off x="4091709" y="1757275"/>
            <a:ext cx="370378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3229C3EA-5205-6FE7-07B4-E131F50F7286}"/>
              </a:ext>
            </a:extLst>
          </p:cNvPr>
          <p:cNvSpPr/>
          <p:nvPr/>
        </p:nvSpPr>
        <p:spPr>
          <a:xfrm>
            <a:off x="4216400" y="1404107"/>
            <a:ext cx="641926" cy="34324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写作培训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5B0D8C5-0FEA-3236-4D69-0E0D2789BBBD}"/>
              </a:ext>
            </a:extLst>
          </p:cNvPr>
          <p:cNvSpPr/>
          <p:nvPr/>
        </p:nvSpPr>
        <p:spPr>
          <a:xfrm>
            <a:off x="5061533" y="1398773"/>
            <a:ext cx="641926" cy="3432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优秀范文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370BBAB-4C0E-6AC2-5B7C-0EBE65627DD3}"/>
              </a:ext>
            </a:extLst>
          </p:cNvPr>
          <p:cNvSpPr/>
          <p:nvPr/>
        </p:nvSpPr>
        <p:spPr>
          <a:xfrm>
            <a:off x="5980553" y="1417095"/>
            <a:ext cx="641926" cy="3432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文献资源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7D86181-757F-6104-6DAD-7C00EB89C82E}"/>
              </a:ext>
            </a:extLst>
          </p:cNvPr>
          <p:cNvSpPr/>
          <p:nvPr/>
        </p:nvSpPr>
        <p:spPr>
          <a:xfrm>
            <a:off x="6863200" y="1398773"/>
            <a:ext cx="641926" cy="3432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……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4DF87B3B-3A41-5B04-51C4-F0D01A34B5AD}"/>
              </a:ext>
            </a:extLst>
          </p:cNvPr>
          <p:cNvCxnSpPr/>
          <p:nvPr/>
        </p:nvCxnSpPr>
        <p:spPr>
          <a:xfrm flipH="1">
            <a:off x="7989455" y="3710588"/>
            <a:ext cx="56341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AF136D36-A315-9CB9-8A65-3520E4982AE3}"/>
              </a:ext>
            </a:extLst>
          </p:cNvPr>
          <p:cNvSpPr txBox="1"/>
          <p:nvPr/>
        </p:nvSpPr>
        <p:spPr>
          <a:xfrm>
            <a:off x="8626763" y="3533089"/>
            <a:ext cx="2124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资源列表</a:t>
            </a:r>
          </a:p>
        </p:txBody>
      </p:sp>
    </p:spTree>
    <p:extLst>
      <p:ext uri="{BB962C8B-B14F-4D97-AF65-F5344CB8AC3E}">
        <p14:creationId xmlns:p14="http://schemas.microsoft.com/office/powerpoint/2010/main" val="1140575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266</Words>
  <Application>Microsoft Office PowerPoint</Application>
  <PresentationFormat>宽屏</PresentationFormat>
  <Paragraphs>87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等线</vt:lpstr>
      <vt:lpstr>等线 Light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8615715820767</dc:creator>
  <cp:lastModifiedBy>8615715820767</cp:lastModifiedBy>
  <cp:revision>1</cp:revision>
  <dcterms:created xsi:type="dcterms:W3CDTF">2025-11-17T06:15:02Z</dcterms:created>
  <dcterms:modified xsi:type="dcterms:W3CDTF">2025-11-17T07:30:16Z</dcterms:modified>
</cp:coreProperties>
</file>